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Lst>
  <p:sldSz cx="12192000" cy="6858000"/>
  <p:notesSz cx="6858000" cy="9144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84BC-B762-497F-BDA5-C39DD06462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EG"/>
          </a:p>
        </p:txBody>
      </p:sp>
      <p:sp>
        <p:nvSpPr>
          <p:cNvPr id="3" name="Subtitle 2">
            <a:extLst>
              <a:ext uri="{FF2B5EF4-FFF2-40B4-BE49-F238E27FC236}">
                <a16:creationId xmlns:a16="http://schemas.microsoft.com/office/drawing/2014/main" id="{718D6BA4-F2F8-468B-8A4A-5EA518C06F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EG"/>
          </a:p>
        </p:txBody>
      </p:sp>
      <p:sp>
        <p:nvSpPr>
          <p:cNvPr id="4" name="Date Placeholder 3">
            <a:extLst>
              <a:ext uri="{FF2B5EF4-FFF2-40B4-BE49-F238E27FC236}">
                <a16:creationId xmlns:a16="http://schemas.microsoft.com/office/drawing/2014/main" id="{C253770D-74A1-4750-8073-D05C17F70F8C}"/>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5" name="Footer Placeholder 4">
            <a:extLst>
              <a:ext uri="{FF2B5EF4-FFF2-40B4-BE49-F238E27FC236}">
                <a16:creationId xmlns:a16="http://schemas.microsoft.com/office/drawing/2014/main" id="{725F2F6F-857E-49D3-9906-2F6388BF318E}"/>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31BCBB1E-FF2F-4F70-B64D-EE935BEDF539}"/>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2795125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3DE0E-EEFE-4621-BBD7-8B6DD1198498}"/>
              </a:ext>
            </a:extLst>
          </p:cNvPr>
          <p:cNvSpPr>
            <a:spLocks noGrp="1"/>
          </p:cNvSpPr>
          <p:nvPr>
            <p:ph type="title"/>
          </p:nvPr>
        </p:nvSpPr>
        <p:spPr/>
        <p:txBody>
          <a:bodyPr/>
          <a:lstStyle/>
          <a:p>
            <a:r>
              <a:rPr lang="en-US"/>
              <a:t>Click to edit Master title style</a:t>
            </a:r>
            <a:endParaRPr lang="ar-EG"/>
          </a:p>
        </p:txBody>
      </p:sp>
      <p:sp>
        <p:nvSpPr>
          <p:cNvPr id="3" name="Content Placeholder 2">
            <a:extLst>
              <a:ext uri="{FF2B5EF4-FFF2-40B4-BE49-F238E27FC236}">
                <a16:creationId xmlns:a16="http://schemas.microsoft.com/office/drawing/2014/main" id="{B4F99FA8-E846-43AF-9832-19ED20EC97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F33352DF-3705-45AD-A452-E33406F23F36}"/>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5" name="Footer Placeholder 4">
            <a:extLst>
              <a:ext uri="{FF2B5EF4-FFF2-40B4-BE49-F238E27FC236}">
                <a16:creationId xmlns:a16="http://schemas.microsoft.com/office/drawing/2014/main" id="{7613CA1E-3DF2-41A4-A0B8-BB8F1ADA1A27}"/>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91227CDF-FBFF-40D7-9C00-61F2D87CE875}"/>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2760684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5F911-39C4-4B47-B578-6565ACB6E7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EG"/>
          </a:p>
        </p:txBody>
      </p:sp>
      <p:sp>
        <p:nvSpPr>
          <p:cNvPr id="3" name="Text Placeholder 2">
            <a:extLst>
              <a:ext uri="{FF2B5EF4-FFF2-40B4-BE49-F238E27FC236}">
                <a16:creationId xmlns:a16="http://schemas.microsoft.com/office/drawing/2014/main" id="{FFBE09E3-3457-4ACF-B365-EF5F62A11B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52C9E1-6626-4F28-B171-AA89192471DC}"/>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5" name="Footer Placeholder 4">
            <a:extLst>
              <a:ext uri="{FF2B5EF4-FFF2-40B4-BE49-F238E27FC236}">
                <a16:creationId xmlns:a16="http://schemas.microsoft.com/office/drawing/2014/main" id="{219C6D65-DA18-47B6-9C12-35DD5DCF789A}"/>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29ADE6FD-D4AC-4124-B152-00582B76BDE1}"/>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3177201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5338-FC5D-4F07-9862-10DCB3AC80E1}"/>
              </a:ext>
            </a:extLst>
          </p:cNvPr>
          <p:cNvSpPr>
            <a:spLocks noGrp="1"/>
          </p:cNvSpPr>
          <p:nvPr>
            <p:ph type="title"/>
          </p:nvPr>
        </p:nvSpPr>
        <p:spPr/>
        <p:txBody>
          <a:bodyPr/>
          <a:lstStyle/>
          <a:p>
            <a:r>
              <a:rPr lang="en-US"/>
              <a:t>Click to edit Master title style</a:t>
            </a:r>
            <a:endParaRPr lang="ar-EG"/>
          </a:p>
        </p:txBody>
      </p:sp>
      <p:sp>
        <p:nvSpPr>
          <p:cNvPr id="3" name="Content Placeholder 2">
            <a:extLst>
              <a:ext uri="{FF2B5EF4-FFF2-40B4-BE49-F238E27FC236}">
                <a16:creationId xmlns:a16="http://schemas.microsoft.com/office/drawing/2014/main" id="{4492AAE4-92DB-45D3-8023-D83FDBBB43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a:extLst>
              <a:ext uri="{FF2B5EF4-FFF2-40B4-BE49-F238E27FC236}">
                <a16:creationId xmlns:a16="http://schemas.microsoft.com/office/drawing/2014/main" id="{D2A37697-32D7-47B5-BC89-C497576319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a:extLst>
              <a:ext uri="{FF2B5EF4-FFF2-40B4-BE49-F238E27FC236}">
                <a16:creationId xmlns:a16="http://schemas.microsoft.com/office/drawing/2014/main" id="{DEDD17D6-1B3D-4B9A-B303-B39218F19E7E}"/>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6" name="Footer Placeholder 5">
            <a:extLst>
              <a:ext uri="{FF2B5EF4-FFF2-40B4-BE49-F238E27FC236}">
                <a16:creationId xmlns:a16="http://schemas.microsoft.com/office/drawing/2014/main" id="{9DC1DEF7-5C81-497E-8D32-1ED5C6D73FE0}"/>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9EA50334-9D1E-4CE7-AB19-7FB8FDFDFC48}"/>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968777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11A8-D459-4EEE-87C2-198E8C0E07D8}"/>
              </a:ext>
            </a:extLst>
          </p:cNvPr>
          <p:cNvSpPr>
            <a:spLocks noGrp="1"/>
          </p:cNvSpPr>
          <p:nvPr>
            <p:ph type="title"/>
          </p:nvPr>
        </p:nvSpPr>
        <p:spPr>
          <a:xfrm>
            <a:off x="839788" y="365125"/>
            <a:ext cx="10515600" cy="1325563"/>
          </a:xfrm>
        </p:spPr>
        <p:txBody>
          <a:bodyPr/>
          <a:lstStyle/>
          <a:p>
            <a:r>
              <a:rPr lang="en-US"/>
              <a:t>Click to edit Master title style</a:t>
            </a:r>
            <a:endParaRPr lang="ar-EG"/>
          </a:p>
        </p:txBody>
      </p:sp>
      <p:sp>
        <p:nvSpPr>
          <p:cNvPr id="3" name="Text Placeholder 2">
            <a:extLst>
              <a:ext uri="{FF2B5EF4-FFF2-40B4-BE49-F238E27FC236}">
                <a16:creationId xmlns:a16="http://schemas.microsoft.com/office/drawing/2014/main" id="{3BA03373-BC6E-4C18-ADCE-04AF081626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EAFEF3-6FF8-4F68-AF76-382B5C935D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a:extLst>
              <a:ext uri="{FF2B5EF4-FFF2-40B4-BE49-F238E27FC236}">
                <a16:creationId xmlns:a16="http://schemas.microsoft.com/office/drawing/2014/main" id="{6CA819A7-EF3B-4505-899A-50C103BA0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ABBD1D-FBAC-49E2-BDA5-6F855AB221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a:extLst>
              <a:ext uri="{FF2B5EF4-FFF2-40B4-BE49-F238E27FC236}">
                <a16:creationId xmlns:a16="http://schemas.microsoft.com/office/drawing/2014/main" id="{B333F180-DFD4-491F-9312-2ECDE22CB963}"/>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8" name="Footer Placeholder 7">
            <a:extLst>
              <a:ext uri="{FF2B5EF4-FFF2-40B4-BE49-F238E27FC236}">
                <a16:creationId xmlns:a16="http://schemas.microsoft.com/office/drawing/2014/main" id="{AD13DD82-A120-4C41-8357-0627B41D6AC1}"/>
              </a:ext>
            </a:extLst>
          </p:cNvPr>
          <p:cNvSpPr>
            <a:spLocks noGrp="1"/>
          </p:cNvSpPr>
          <p:nvPr>
            <p:ph type="ftr" sz="quarter" idx="11"/>
          </p:nvPr>
        </p:nvSpPr>
        <p:spPr/>
        <p:txBody>
          <a:bodyPr/>
          <a:lstStyle/>
          <a:p>
            <a:endParaRPr lang="ar-EG"/>
          </a:p>
        </p:txBody>
      </p:sp>
      <p:sp>
        <p:nvSpPr>
          <p:cNvPr id="9" name="Slide Number Placeholder 8">
            <a:extLst>
              <a:ext uri="{FF2B5EF4-FFF2-40B4-BE49-F238E27FC236}">
                <a16:creationId xmlns:a16="http://schemas.microsoft.com/office/drawing/2014/main" id="{786B5755-FCB6-4F8B-BC54-D7734EB1EBAF}"/>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906505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99BD8-6539-4171-A6A9-7C647F13A667}"/>
              </a:ext>
            </a:extLst>
          </p:cNvPr>
          <p:cNvSpPr>
            <a:spLocks noGrp="1"/>
          </p:cNvSpPr>
          <p:nvPr>
            <p:ph type="title"/>
          </p:nvPr>
        </p:nvSpPr>
        <p:spPr/>
        <p:txBody>
          <a:bodyPr/>
          <a:lstStyle/>
          <a:p>
            <a:r>
              <a:rPr lang="en-US"/>
              <a:t>Click to edit Master title style</a:t>
            </a:r>
            <a:endParaRPr lang="ar-EG"/>
          </a:p>
        </p:txBody>
      </p:sp>
      <p:sp>
        <p:nvSpPr>
          <p:cNvPr id="3" name="Date Placeholder 2">
            <a:extLst>
              <a:ext uri="{FF2B5EF4-FFF2-40B4-BE49-F238E27FC236}">
                <a16:creationId xmlns:a16="http://schemas.microsoft.com/office/drawing/2014/main" id="{0CF0E554-BBC4-4CED-B3BE-B3A282547CB5}"/>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4" name="Footer Placeholder 3">
            <a:extLst>
              <a:ext uri="{FF2B5EF4-FFF2-40B4-BE49-F238E27FC236}">
                <a16:creationId xmlns:a16="http://schemas.microsoft.com/office/drawing/2014/main" id="{1391FAB3-C52C-4BCC-A41B-DA7F53B5ADBF}"/>
              </a:ext>
            </a:extLst>
          </p:cNvPr>
          <p:cNvSpPr>
            <a:spLocks noGrp="1"/>
          </p:cNvSpPr>
          <p:nvPr>
            <p:ph type="ftr" sz="quarter" idx="11"/>
          </p:nvPr>
        </p:nvSpPr>
        <p:spPr/>
        <p:txBody>
          <a:bodyPr/>
          <a:lstStyle/>
          <a:p>
            <a:endParaRPr lang="ar-EG"/>
          </a:p>
        </p:txBody>
      </p:sp>
      <p:sp>
        <p:nvSpPr>
          <p:cNvPr id="5" name="Slide Number Placeholder 4">
            <a:extLst>
              <a:ext uri="{FF2B5EF4-FFF2-40B4-BE49-F238E27FC236}">
                <a16:creationId xmlns:a16="http://schemas.microsoft.com/office/drawing/2014/main" id="{9722A507-045C-4747-AC78-22620C32163B}"/>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320551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3BF3B8-A919-4BF1-A2DB-B38BD6169271}"/>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3" name="Footer Placeholder 2">
            <a:extLst>
              <a:ext uri="{FF2B5EF4-FFF2-40B4-BE49-F238E27FC236}">
                <a16:creationId xmlns:a16="http://schemas.microsoft.com/office/drawing/2014/main" id="{71CD3BE5-EE50-4660-8B6F-CEE214D743C7}"/>
              </a:ext>
            </a:extLst>
          </p:cNvPr>
          <p:cNvSpPr>
            <a:spLocks noGrp="1"/>
          </p:cNvSpPr>
          <p:nvPr>
            <p:ph type="ftr" sz="quarter" idx="11"/>
          </p:nvPr>
        </p:nvSpPr>
        <p:spPr/>
        <p:txBody>
          <a:bodyPr/>
          <a:lstStyle/>
          <a:p>
            <a:endParaRPr lang="ar-EG"/>
          </a:p>
        </p:txBody>
      </p:sp>
      <p:sp>
        <p:nvSpPr>
          <p:cNvPr id="4" name="Slide Number Placeholder 3">
            <a:extLst>
              <a:ext uri="{FF2B5EF4-FFF2-40B4-BE49-F238E27FC236}">
                <a16:creationId xmlns:a16="http://schemas.microsoft.com/office/drawing/2014/main" id="{B81B0283-33B2-4582-A11A-B8A776A9BD09}"/>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636601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B0A58-E279-4142-B1E7-6929E12B7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Content Placeholder 2">
            <a:extLst>
              <a:ext uri="{FF2B5EF4-FFF2-40B4-BE49-F238E27FC236}">
                <a16:creationId xmlns:a16="http://schemas.microsoft.com/office/drawing/2014/main" id="{4B8F847B-A8C1-4DC3-B620-5947C5137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a:extLst>
              <a:ext uri="{FF2B5EF4-FFF2-40B4-BE49-F238E27FC236}">
                <a16:creationId xmlns:a16="http://schemas.microsoft.com/office/drawing/2014/main" id="{159A4AB2-ECDB-4347-BE37-9E5097FAA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9B4F68-D934-4A9C-80EA-BAF97217C771}"/>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6" name="Footer Placeholder 5">
            <a:extLst>
              <a:ext uri="{FF2B5EF4-FFF2-40B4-BE49-F238E27FC236}">
                <a16:creationId xmlns:a16="http://schemas.microsoft.com/office/drawing/2014/main" id="{B685FEEF-ECB0-42E2-BC0B-8A2C64B7815D}"/>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DA99A965-7B1F-465F-B32F-0FC0DCE04E3F}"/>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1572334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7A03-3162-42BB-838E-64F2B0A2BB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Picture Placeholder 2">
            <a:extLst>
              <a:ext uri="{FF2B5EF4-FFF2-40B4-BE49-F238E27FC236}">
                <a16:creationId xmlns:a16="http://schemas.microsoft.com/office/drawing/2014/main" id="{5AD6C5B5-E06D-4DC1-BA86-11568ABADF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a:extLst>
              <a:ext uri="{FF2B5EF4-FFF2-40B4-BE49-F238E27FC236}">
                <a16:creationId xmlns:a16="http://schemas.microsoft.com/office/drawing/2014/main" id="{0B9298BB-7C8E-4881-A4B6-6AF0C91FC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A28927-F220-4A36-BDA6-37CCAC0EA53A}"/>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6" name="Footer Placeholder 5">
            <a:extLst>
              <a:ext uri="{FF2B5EF4-FFF2-40B4-BE49-F238E27FC236}">
                <a16:creationId xmlns:a16="http://schemas.microsoft.com/office/drawing/2014/main" id="{D4E130EE-231E-40D4-A95C-85BA02F78A4C}"/>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16D6F9C7-7AB1-4401-A90E-0D4701B03B08}"/>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89616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F8C4-D7A3-41DD-9243-B81E08E5CAAD}"/>
              </a:ext>
            </a:extLst>
          </p:cNvPr>
          <p:cNvSpPr>
            <a:spLocks noGrp="1"/>
          </p:cNvSpPr>
          <p:nvPr>
            <p:ph type="title"/>
          </p:nvPr>
        </p:nvSpPr>
        <p:spPr/>
        <p:txBody>
          <a:bodyPr/>
          <a:lstStyle/>
          <a:p>
            <a:r>
              <a:rPr lang="en-US"/>
              <a:t>Click to edit Master title style</a:t>
            </a:r>
            <a:endParaRPr lang="ar-EG"/>
          </a:p>
        </p:txBody>
      </p:sp>
      <p:sp>
        <p:nvSpPr>
          <p:cNvPr id="3" name="Vertical Text Placeholder 2">
            <a:extLst>
              <a:ext uri="{FF2B5EF4-FFF2-40B4-BE49-F238E27FC236}">
                <a16:creationId xmlns:a16="http://schemas.microsoft.com/office/drawing/2014/main" id="{C441262C-3F0E-491B-9D62-BAC8233E60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704DAACE-93CF-471B-BD58-F0BFCAAAF3D9}"/>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5" name="Footer Placeholder 4">
            <a:extLst>
              <a:ext uri="{FF2B5EF4-FFF2-40B4-BE49-F238E27FC236}">
                <a16:creationId xmlns:a16="http://schemas.microsoft.com/office/drawing/2014/main" id="{5756E65C-1389-4A7F-B8F2-A93DE6E268B1}"/>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870BEE40-0B40-4AD8-B52C-E94FF9CAE722}"/>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112456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41DE26-D190-4967-A48A-285D1DAAEB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EG"/>
          </a:p>
        </p:txBody>
      </p:sp>
      <p:sp>
        <p:nvSpPr>
          <p:cNvPr id="3" name="Vertical Text Placeholder 2">
            <a:extLst>
              <a:ext uri="{FF2B5EF4-FFF2-40B4-BE49-F238E27FC236}">
                <a16:creationId xmlns:a16="http://schemas.microsoft.com/office/drawing/2014/main" id="{C9D58A8C-3254-4670-A15D-AD7F44D889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74EF506B-136E-4C54-ACFF-C880FED34F52}"/>
              </a:ext>
            </a:extLst>
          </p:cNvPr>
          <p:cNvSpPr>
            <a:spLocks noGrp="1"/>
          </p:cNvSpPr>
          <p:nvPr>
            <p:ph type="dt" sz="half" idx="10"/>
          </p:nvPr>
        </p:nvSpPr>
        <p:spPr/>
        <p:txBody>
          <a:bodyPr/>
          <a:lstStyle/>
          <a:p>
            <a:fld id="{39AEBBA0-78FA-4046-9B43-8EF015A45008}" type="datetimeFigureOut">
              <a:rPr lang="ar-EG" smtClean="0"/>
              <a:t>29/05/1443</a:t>
            </a:fld>
            <a:endParaRPr lang="ar-EG"/>
          </a:p>
        </p:txBody>
      </p:sp>
      <p:sp>
        <p:nvSpPr>
          <p:cNvPr id="5" name="Footer Placeholder 4">
            <a:extLst>
              <a:ext uri="{FF2B5EF4-FFF2-40B4-BE49-F238E27FC236}">
                <a16:creationId xmlns:a16="http://schemas.microsoft.com/office/drawing/2014/main" id="{981BF5C8-8D01-4BDA-92D8-4B9E865A0E42}"/>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B97D9B0D-4D30-4710-8C98-8674977A4449}"/>
              </a:ext>
            </a:extLst>
          </p:cNvPr>
          <p:cNvSpPr>
            <a:spLocks noGrp="1"/>
          </p:cNvSpPr>
          <p:nvPr>
            <p:ph type="sldNum" sz="quarter" idx="12"/>
          </p:nvPr>
        </p:nvSpPr>
        <p:spPr/>
        <p:txBody>
          <a:bodyPr/>
          <a:lstStyle/>
          <a:p>
            <a:fld id="{CAC23D2D-D235-4254-B54C-DF44C20C183A}" type="slidenum">
              <a:rPr lang="ar-EG" smtClean="0"/>
              <a:t>‹#›</a:t>
            </a:fld>
            <a:endParaRPr lang="ar-EG"/>
          </a:p>
        </p:txBody>
      </p:sp>
    </p:spTree>
    <p:extLst>
      <p:ext uri="{BB962C8B-B14F-4D97-AF65-F5344CB8AC3E}">
        <p14:creationId xmlns:p14="http://schemas.microsoft.com/office/powerpoint/2010/main" val="57427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58C52B-6592-4A78-B29D-BADCCAB84B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EG"/>
          </a:p>
        </p:txBody>
      </p:sp>
      <p:sp>
        <p:nvSpPr>
          <p:cNvPr id="3" name="Text Placeholder 2">
            <a:extLst>
              <a:ext uri="{FF2B5EF4-FFF2-40B4-BE49-F238E27FC236}">
                <a16:creationId xmlns:a16="http://schemas.microsoft.com/office/drawing/2014/main" id="{FB9082CA-EB8D-4922-8721-6AF6A2EF44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41099AF1-3E35-426A-8AD5-9193EFFEF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AEBBA0-78FA-4046-9B43-8EF015A45008}" type="datetimeFigureOut">
              <a:rPr lang="ar-EG" smtClean="0"/>
              <a:t>29/05/1443</a:t>
            </a:fld>
            <a:endParaRPr lang="ar-EG"/>
          </a:p>
        </p:txBody>
      </p:sp>
      <p:sp>
        <p:nvSpPr>
          <p:cNvPr id="5" name="Footer Placeholder 4">
            <a:extLst>
              <a:ext uri="{FF2B5EF4-FFF2-40B4-BE49-F238E27FC236}">
                <a16:creationId xmlns:a16="http://schemas.microsoft.com/office/drawing/2014/main" id="{779D53C9-A82D-4D62-BB4F-B4570CC38B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EG"/>
          </a:p>
        </p:txBody>
      </p:sp>
      <p:sp>
        <p:nvSpPr>
          <p:cNvPr id="6" name="Slide Number Placeholder 5">
            <a:extLst>
              <a:ext uri="{FF2B5EF4-FFF2-40B4-BE49-F238E27FC236}">
                <a16:creationId xmlns:a16="http://schemas.microsoft.com/office/drawing/2014/main" id="{1F3713E0-68EF-4493-B518-7873777F85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C23D2D-D235-4254-B54C-DF44C20C183A}" type="slidenum">
              <a:rPr lang="ar-EG" smtClean="0"/>
              <a:t>‹#›</a:t>
            </a:fld>
            <a:endParaRPr lang="ar-EG"/>
          </a:p>
        </p:txBody>
      </p:sp>
    </p:spTree>
    <p:extLst>
      <p:ext uri="{BB962C8B-B14F-4D97-AF65-F5344CB8AC3E}">
        <p14:creationId xmlns:p14="http://schemas.microsoft.com/office/powerpoint/2010/main" val="1822110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log.maximusbusiness.com/services/ecommerce/" TargetMode="Externa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7DEA-7AC8-4611-8B3B-5ED4ABA1D5FF}"/>
              </a:ext>
            </a:extLst>
          </p:cNvPr>
          <p:cNvSpPr>
            <a:spLocks noGrp="1"/>
          </p:cNvSpPr>
          <p:nvPr>
            <p:ph type="ctrTitle"/>
          </p:nvPr>
        </p:nvSpPr>
        <p:spPr/>
        <p:txBody>
          <a:bodyPr>
            <a:normAutofit/>
          </a:bodyPr>
          <a:lstStyle/>
          <a:p>
            <a:r>
              <a:rPr lang="en-US" sz="7200" b="1" dirty="0">
                <a:solidFill>
                  <a:srgbClr val="C00000"/>
                </a:solidFill>
                <a:effectLst/>
                <a:latin typeface="Calibri" panose="020F0502020204030204" pitchFamily="34" charset="0"/>
                <a:ea typeface="Calibri" panose="020F0502020204030204" pitchFamily="34" charset="0"/>
                <a:cs typeface="Arial" panose="020B0604020202020204" pitchFamily="34" charset="0"/>
              </a:rPr>
              <a:t>Smart card </a:t>
            </a:r>
            <a:endParaRPr lang="ar-EG" sz="34400" b="1" dirty="0">
              <a:solidFill>
                <a:srgbClr val="C00000"/>
              </a:solidFill>
            </a:endParaRPr>
          </a:p>
        </p:txBody>
      </p:sp>
      <p:sp>
        <p:nvSpPr>
          <p:cNvPr id="3" name="Subtitle 2">
            <a:extLst>
              <a:ext uri="{FF2B5EF4-FFF2-40B4-BE49-F238E27FC236}">
                <a16:creationId xmlns:a16="http://schemas.microsoft.com/office/drawing/2014/main" id="{AB3E62BB-C826-4CE6-B0CB-5468B4863FDF}"/>
              </a:ext>
            </a:extLst>
          </p:cNvPr>
          <p:cNvSpPr>
            <a:spLocks noGrp="1"/>
          </p:cNvSpPr>
          <p:nvPr>
            <p:ph type="subTitle" idx="1"/>
          </p:nvPr>
        </p:nvSpPr>
        <p:spPr/>
        <p:txBody>
          <a:bodyPr/>
          <a:lstStyle/>
          <a:p>
            <a:endParaRPr lang="ar-EG" dirty="0"/>
          </a:p>
        </p:txBody>
      </p:sp>
    </p:spTree>
    <p:extLst>
      <p:ext uri="{BB962C8B-B14F-4D97-AF65-F5344CB8AC3E}">
        <p14:creationId xmlns:p14="http://schemas.microsoft.com/office/powerpoint/2010/main" val="24238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52894-357C-47A2-8D12-3D538087445E}"/>
              </a:ext>
            </a:extLst>
          </p:cNvPr>
          <p:cNvSpPr>
            <a:spLocks noGrp="1"/>
          </p:cNvSpPr>
          <p:nvPr>
            <p:ph type="title"/>
          </p:nvPr>
        </p:nvSpPr>
        <p:spPr>
          <a:xfrm>
            <a:off x="839789" y="457200"/>
            <a:ext cx="3944246" cy="987287"/>
          </a:xfrm>
        </p:spPr>
        <p:txBody>
          <a:bodyPr>
            <a:normAutofit/>
          </a:bodyPr>
          <a:lstStyle/>
          <a:p>
            <a:r>
              <a:rPr lang="en-US" sz="4000" b="1" dirty="0">
                <a:solidFill>
                  <a:srgbClr val="C0504D"/>
                </a:solidFill>
                <a:effectLst/>
                <a:latin typeface="Calibri" panose="020F0502020204030204" pitchFamily="34" charset="0"/>
                <a:ea typeface="Calibri" panose="020F0502020204030204" pitchFamily="34" charset="0"/>
                <a:cs typeface="Arial" panose="020B0604020202020204" pitchFamily="34" charset="0"/>
              </a:rPr>
              <a:t>Presentation </a:t>
            </a:r>
            <a:endParaRPr lang="ar-EG" sz="49600" b="1" dirty="0">
              <a:solidFill>
                <a:srgbClr val="C00000"/>
              </a:solidFill>
            </a:endParaRPr>
          </a:p>
        </p:txBody>
      </p:sp>
      <p:pic>
        <p:nvPicPr>
          <p:cNvPr id="6" name="Content Placeholder 5">
            <a:extLst>
              <a:ext uri="{FF2B5EF4-FFF2-40B4-BE49-F238E27FC236}">
                <a16:creationId xmlns:a16="http://schemas.microsoft.com/office/drawing/2014/main" id="{B38A3552-07D7-4F00-B0E6-FA515878A394}"/>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479100" y="1908313"/>
            <a:ext cx="2873112" cy="2862470"/>
          </a:xfrm>
        </p:spPr>
      </p:pic>
      <p:sp>
        <p:nvSpPr>
          <p:cNvPr id="4" name="Text Placeholder 3">
            <a:extLst>
              <a:ext uri="{FF2B5EF4-FFF2-40B4-BE49-F238E27FC236}">
                <a16:creationId xmlns:a16="http://schemas.microsoft.com/office/drawing/2014/main" id="{01703392-72F0-48F2-9AC6-463F1C8119AF}"/>
              </a:ext>
            </a:extLst>
          </p:cNvPr>
          <p:cNvSpPr>
            <a:spLocks noGrp="1"/>
          </p:cNvSpPr>
          <p:nvPr>
            <p:ph type="body" sz="half" idx="2"/>
          </p:nvPr>
        </p:nvSpPr>
        <p:spPr>
          <a:xfrm>
            <a:off x="839787" y="1709530"/>
            <a:ext cx="6939239" cy="4159457"/>
          </a:xfrm>
        </p:spPr>
        <p:txBody>
          <a:bodyPr>
            <a:normAutofit fontScale="92500" lnSpcReduction="20000"/>
          </a:bodyPr>
          <a:lstStyle/>
          <a:p>
            <a:r>
              <a:rPr lang="en-US" sz="2800" b="1" dirty="0">
                <a:solidFill>
                  <a:schemeClr val="tx1">
                    <a:lumMod val="95000"/>
                    <a:lumOff val="5000"/>
                  </a:schemeClr>
                </a:solidFill>
                <a:effectLst/>
                <a:latin typeface="Calibri" panose="020F0502020204030204" pitchFamily="34" charset="0"/>
                <a:ea typeface="Calibri" panose="020F0502020204030204" pitchFamily="34" charset="0"/>
                <a:cs typeface="Arial" panose="020B0604020202020204" pitchFamily="34" charset="0"/>
              </a:rPr>
              <a:t>The smart card has become a trader between the world's members and facilitates anyone to own it, but smart cards in banks or pay money for daily purchases, but this project will talk about its use in transportation, which facilitates the payment and makes the state control and This is through the connector device and each means of transportation containing the entrance to the entrance to the withdrawal of funds and know the number of passengers within the  transportation and means of the maximum passenger and the remaining number of places and this project is granted a new feature of the smart card .</a:t>
            </a:r>
          </a:p>
          <a:p>
            <a:endParaRPr lang="ar-EG" sz="2400" b="1" dirty="0">
              <a:solidFill>
                <a:schemeClr val="tx1">
                  <a:lumMod val="95000"/>
                  <a:lumOff val="5000"/>
                </a:schemeClr>
              </a:solidFill>
            </a:endParaRPr>
          </a:p>
        </p:txBody>
      </p:sp>
    </p:spTree>
    <p:extLst>
      <p:ext uri="{BB962C8B-B14F-4D97-AF65-F5344CB8AC3E}">
        <p14:creationId xmlns:p14="http://schemas.microsoft.com/office/powerpoint/2010/main" val="2156667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BC305-FDC5-4278-AD70-A61923E6881F}"/>
              </a:ext>
            </a:extLst>
          </p:cNvPr>
          <p:cNvSpPr>
            <a:spLocks noGrp="1"/>
          </p:cNvSpPr>
          <p:nvPr>
            <p:ph type="title"/>
          </p:nvPr>
        </p:nvSpPr>
        <p:spPr/>
        <p:txBody>
          <a:bodyPr>
            <a:normAutofit fontScale="90000"/>
          </a:bodyPr>
          <a:lstStyle/>
          <a:p>
            <a:r>
              <a:rPr lang="en-US" sz="4900" dirty="0">
                <a:solidFill>
                  <a:srgbClr val="C00000"/>
                </a:solidFill>
                <a:effectLst/>
                <a:latin typeface="Calibri" panose="020F0502020204030204" pitchFamily="34" charset="0"/>
                <a:ea typeface="Calibri" panose="020F0502020204030204" pitchFamily="34" charset="0"/>
                <a:cs typeface="Arial" panose="020B0604020202020204" pitchFamily="34" charset="0"/>
              </a:rPr>
              <a:t>   </a:t>
            </a:r>
            <a:r>
              <a:rPr lang="en-US" sz="6700" b="1" dirty="0">
                <a:solidFill>
                  <a:srgbClr val="C00000"/>
                </a:solidFill>
                <a:effectLst/>
                <a:latin typeface="Calibri" panose="020F0502020204030204" pitchFamily="34" charset="0"/>
                <a:ea typeface="Calibri" panose="020F0502020204030204" pitchFamily="34" charset="0"/>
                <a:cs typeface="Arial" panose="020B0604020202020204" pitchFamily="34" charset="0"/>
              </a:rPr>
              <a:t>Project charter</a:t>
            </a:r>
            <a:br>
              <a:rPr lang="en-US" dirty="0">
                <a:solidFill>
                  <a:srgbClr val="C00000"/>
                </a:solidFill>
                <a:effectLst/>
                <a:latin typeface="Calibri" panose="020F0502020204030204" pitchFamily="34" charset="0"/>
                <a:ea typeface="Calibri" panose="020F0502020204030204" pitchFamily="34" charset="0"/>
                <a:cs typeface="Arial" panose="020B0604020202020204" pitchFamily="34" charset="0"/>
              </a:rPr>
            </a:br>
            <a:endParaRPr lang="ar-EG" dirty="0">
              <a:solidFill>
                <a:srgbClr val="C00000"/>
              </a:solidFill>
            </a:endParaRPr>
          </a:p>
        </p:txBody>
      </p:sp>
      <p:sp>
        <p:nvSpPr>
          <p:cNvPr id="3" name="Content Placeholder 2">
            <a:extLst>
              <a:ext uri="{FF2B5EF4-FFF2-40B4-BE49-F238E27FC236}">
                <a16:creationId xmlns:a16="http://schemas.microsoft.com/office/drawing/2014/main" id="{F8491197-CDA3-4DCD-8050-21456E9D5C89}"/>
              </a:ext>
            </a:extLst>
          </p:cNvPr>
          <p:cNvSpPr>
            <a:spLocks noGrp="1"/>
          </p:cNvSpPr>
          <p:nvPr>
            <p:ph idx="1"/>
          </p:nvPr>
        </p:nvSpPr>
        <p:spPr/>
        <p:txBody>
          <a:bodyPr>
            <a:normAutofit/>
          </a:bodyPr>
          <a:lstStyle/>
          <a:p>
            <a:pPr>
              <a:lnSpc>
                <a:spcPct val="115000"/>
              </a:lnSpc>
              <a:spcAft>
                <a:spcPts val="1000"/>
              </a:spcAft>
            </a:pP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sym typeface="Symbol" panose="05050102010706020507" pitchFamily="18" charset="2"/>
              </a:rPr>
              <a:t></a:t>
            </a: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rPr>
              <a:t> Project name : -  </a:t>
            </a:r>
            <a:r>
              <a:rPr lang="en-US" sz="2400" b="1" dirty="0">
                <a:effectLst/>
                <a:latin typeface="Calibri" panose="020F0502020204030204" pitchFamily="34" charset="0"/>
                <a:ea typeface="Calibri" panose="020F0502020204030204" pitchFamily="34" charset="0"/>
                <a:cs typeface="Arial" panose="020B0604020202020204" pitchFamily="34" charset="0"/>
              </a:rPr>
              <a:t>Smart card (for transportation)</a:t>
            </a:r>
          </a:p>
          <a:p>
            <a:pPr>
              <a:lnSpc>
                <a:spcPct val="115000"/>
              </a:lnSpc>
              <a:spcAft>
                <a:spcPts val="1000"/>
              </a:spcAft>
            </a:pP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sym typeface="Symbol" panose="05050102010706020507" pitchFamily="18" charset="2"/>
              </a:rPr>
              <a:t></a:t>
            </a: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rPr>
              <a:t> Project sponsor : - </a:t>
            </a:r>
            <a:r>
              <a:rPr lang="en-US" sz="2400" b="1" dirty="0">
                <a:effectLst/>
                <a:latin typeface="Calibri" panose="020F0502020204030204" pitchFamily="34" charset="0"/>
                <a:ea typeface="Calibri" panose="020F0502020204030204" pitchFamily="34" charset="0"/>
                <a:cs typeface="Arial" panose="020B0604020202020204" pitchFamily="34" charset="0"/>
              </a:rPr>
              <a:t>Ministry of transport.</a:t>
            </a:r>
          </a:p>
          <a:p>
            <a:pPr>
              <a:lnSpc>
                <a:spcPct val="115000"/>
              </a:lnSpc>
              <a:spcAft>
                <a:spcPts val="1000"/>
              </a:spcAft>
            </a:pP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sym typeface="Symbol" panose="05050102010706020507" pitchFamily="18" charset="2"/>
              </a:rPr>
              <a:t></a:t>
            </a: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rPr>
              <a:t> Project manager : </a:t>
            </a:r>
            <a:r>
              <a:rPr lang="en-US" sz="2400" b="1" dirty="0">
                <a:effectLst/>
                <a:latin typeface="Calibri" panose="020F0502020204030204" pitchFamily="34" charset="0"/>
                <a:ea typeface="Calibri" panose="020F0502020204030204" pitchFamily="34" charset="0"/>
                <a:cs typeface="Arial" panose="020B0604020202020204" pitchFamily="34" charset="0"/>
              </a:rPr>
              <a:t>-  </a:t>
            </a:r>
            <a:r>
              <a:rPr lang="en-US" sz="2400" b="1" dirty="0" err="1">
                <a:effectLst/>
                <a:latin typeface="Calibri" panose="020F0502020204030204" pitchFamily="34" charset="0"/>
                <a:ea typeface="Calibri" panose="020F0502020204030204" pitchFamily="34" charset="0"/>
                <a:cs typeface="Arial" panose="020B0604020202020204" pitchFamily="34" charset="0"/>
              </a:rPr>
              <a:t>Eng</a:t>
            </a:r>
            <a:r>
              <a:rPr lang="en-US" sz="2400" b="1" dirty="0">
                <a:effectLst/>
                <a:latin typeface="Calibri" panose="020F0502020204030204" pitchFamily="34" charset="0"/>
                <a:ea typeface="Calibri" panose="020F0502020204030204" pitchFamily="34" charset="0"/>
                <a:cs typeface="Arial" panose="020B0604020202020204" pitchFamily="34" charset="0"/>
              </a:rPr>
              <a:t> \ Khaled </a:t>
            </a:r>
            <a:r>
              <a:rPr lang="en-US" sz="2400" b="1" dirty="0">
                <a:latin typeface="Calibri" panose="020F0502020204030204" pitchFamily="34" charset="0"/>
                <a:ea typeface="Calibri" panose="020F0502020204030204" pitchFamily="34" charset="0"/>
                <a:cs typeface="Arial" panose="020B0604020202020204" pitchFamily="34" charset="0"/>
              </a:rPr>
              <a:t>A</a:t>
            </a:r>
            <a:r>
              <a:rPr lang="en-US" sz="2400" b="1" dirty="0">
                <a:effectLst/>
                <a:latin typeface="Calibri" panose="020F0502020204030204" pitchFamily="34" charset="0"/>
                <a:ea typeface="Calibri" panose="020F0502020204030204" pitchFamily="34" charset="0"/>
                <a:cs typeface="Arial" panose="020B0604020202020204" pitchFamily="34" charset="0"/>
              </a:rPr>
              <a:t>li .</a:t>
            </a:r>
          </a:p>
          <a:p>
            <a:pPr>
              <a:lnSpc>
                <a:spcPct val="115000"/>
              </a:lnSpc>
              <a:spcAft>
                <a:spcPts val="1000"/>
              </a:spcAft>
            </a:pP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sym typeface="Symbol" panose="05050102010706020507" pitchFamily="18" charset="2"/>
              </a:rPr>
              <a:t></a:t>
            </a:r>
            <a:r>
              <a:rPr lang="en-US" sz="2400" b="1" dirty="0">
                <a:solidFill>
                  <a:srgbClr val="C0504D"/>
                </a:solidFill>
                <a:effectLst/>
                <a:latin typeface="Calibri" panose="020F0502020204030204" pitchFamily="34" charset="0"/>
                <a:ea typeface="Calibri" panose="020F0502020204030204" pitchFamily="34" charset="0"/>
                <a:cs typeface="Arial" panose="020B0604020202020204" pitchFamily="34" charset="0"/>
              </a:rPr>
              <a:t> Purpose of the project : </a:t>
            </a:r>
            <a:r>
              <a:rPr lang="en-US" sz="2400" b="1" dirty="0">
                <a:effectLst/>
                <a:latin typeface="Calibri" panose="020F0502020204030204" pitchFamily="34" charset="0"/>
                <a:ea typeface="Calibri" panose="020F0502020204030204" pitchFamily="34" charset="0"/>
                <a:cs typeface="Arial" panose="020B0604020202020204" pitchFamily="34" charset="0"/>
              </a:rPr>
              <a:t>- Facilitate the payment process in the means of transportation for people.</a:t>
            </a:r>
          </a:p>
          <a:p>
            <a:endParaRPr lang="ar-EG" sz="3600" b="1" dirty="0"/>
          </a:p>
        </p:txBody>
      </p:sp>
    </p:spTree>
    <p:extLst>
      <p:ext uri="{BB962C8B-B14F-4D97-AF65-F5344CB8AC3E}">
        <p14:creationId xmlns:p14="http://schemas.microsoft.com/office/powerpoint/2010/main" val="1369094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181A8-5070-48E2-A233-D2DEF2D35276}"/>
              </a:ext>
            </a:extLst>
          </p:cNvPr>
          <p:cNvSpPr>
            <a:spLocks noGrp="1"/>
          </p:cNvSpPr>
          <p:nvPr>
            <p:ph type="title"/>
          </p:nvPr>
        </p:nvSpPr>
        <p:spPr/>
        <p:txBody>
          <a:bodyPr>
            <a:normAutofit/>
          </a:bodyPr>
          <a:lstStyle/>
          <a:p>
            <a:pPr algn="ctr"/>
            <a:r>
              <a:rPr lang="en-US" b="1" dirty="0">
                <a:solidFill>
                  <a:srgbClr val="C00000"/>
                </a:solidFill>
                <a:effectLst/>
                <a:latin typeface="Calibri" panose="020F0502020204030204" pitchFamily="34" charset="0"/>
                <a:ea typeface="Calibri" panose="020F0502020204030204" pitchFamily="34" charset="0"/>
                <a:cs typeface="Arial" panose="020B0604020202020204" pitchFamily="34" charset="0"/>
              </a:rPr>
              <a:t>Project scoop </a:t>
            </a:r>
            <a:endParaRPr lang="ar-EG" sz="8800" b="1" dirty="0">
              <a:solidFill>
                <a:srgbClr val="C00000"/>
              </a:solidFill>
            </a:endParaRPr>
          </a:p>
        </p:txBody>
      </p:sp>
      <p:sp>
        <p:nvSpPr>
          <p:cNvPr id="3" name="Content Placeholder 2">
            <a:extLst>
              <a:ext uri="{FF2B5EF4-FFF2-40B4-BE49-F238E27FC236}">
                <a16:creationId xmlns:a16="http://schemas.microsoft.com/office/drawing/2014/main" id="{270A43B6-7034-4A63-8927-8D6B59BD16EE}"/>
              </a:ext>
            </a:extLst>
          </p:cNvPr>
          <p:cNvSpPr>
            <a:spLocks noGrp="1"/>
          </p:cNvSpPr>
          <p:nvPr>
            <p:ph idx="1"/>
          </p:nvPr>
        </p:nvSpPr>
        <p:spPr/>
        <p:txBody>
          <a:bodyPr>
            <a:normAutofit/>
          </a:bodyPr>
          <a:lstStyle/>
          <a:p>
            <a:pPr>
              <a:lnSpc>
                <a:spcPct val="115000"/>
              </a:lnSpc>
              <a:spcAft>
                <a:spcPts val="1000"/>
              </a:spcAft>
            </a:pPr>
            <a:r>
              <a:rPr lang="en-US" sz="3200" b="1" dirty="0">
                <a:solidFill>
                  <a:srgbClr val="17365D"/>
                </a:solidFill>
                <a:effectLst/>
                <a:latin typeface="Calibri" panose="020F0502020204030204" pitchFamily="34" charset="0"/>
                <a:ea typeface="Calibri" panose="020F0502020204030204" pitchFamily="34" charset="0"/>
                <a:cs typeface="Arial" panose="020B0604020202020204" pitchFamily="34" charset="0"/>
              </a:rPr>
              <a:t>1. Control of transportation prices imposed by the state</a:t>
            </a:r>
            <a:endParaRPr lang="en-US" sz="3200" b="1"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3200" b="1" dirty="0">
                <a:solidFill>
                  <a:srgbClr val="17365D"/>
                </a:solidFill>
                <a:effectLst/>
                <a:latin typeface="Calibri" panose="020F0502020204030204" pitchFamily="34" charset="0"/>
                <a:ea typeface="Calibri" panose="020F0502020204030204" pitchFamily="34" charset="0"/>
                <a:cs typeface="Arial" panose="020B0604020202020204" pitchFamily="34" charset="0"/>
              </a:rPr>
              <a:t> 2. Facilitate the payment process for the user</a:t>
            </a:r>
            <a:endParaRPr lang="en-US" sz="3200" b="1"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3200" b="1" dirty="0">
                <a:solidFill>
                  <a:srgbClr val="17365D"/>
                </a:solidFill>
                <a:effectLst/>
                <a:latin typeface="Calibri" panose="020F0502020204030204" pitchFamily="34" charset="0"/>
                <a:ea typeface="Calibri" panose="020F0502020204030204" pitchFamily="34" charset="0"/>
                <a:cs typeface="Arial" panose="020B0604020202020204" pitchFamily="34" charset="0"/>
              </a:rPr>
              <a:t> 3. Increasing the chances of dealing with banks</a:t>
            </a:r>
            <a:endParaRPr lang="en-US" sz="3200" b="1"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3200" b="1" dirty="0">
                <a:solidFill>
                  <a:srgbClr val="17365D"/>
                </a:solidFill>
                <a:effectLst/>
                <a:latin typeface="Calibri" panose="020F0502020204030204" pitchFamily="34" charset="0"/>
                <a:ea typeface="Calibri" panose="020F0502020204030204" pitchFamily="34" charset="0"/>
                <a:cs typeface="Arial" panose="020B0604020202020204" pitchFamily="34" charset="0"/>
              </a:rPr>
              <a:t> 4. Knowing the actual profits achieved by the means of transportation</a:t>
            </a:r>
            <a:endParaRPr lang="en-US" sz="3200" b="1" dirty="0">
              <a:effectLst/>
              <a:latin typeface="Calibri" panose="020F0502020204030204" pitchFamily="34" charset="0"/>
              <a:ea typeface="Calibri" panose="020F0502020204030204" pitchFamily="34" charset="0"/>
              <a:cs typeface="Arial" panose="020B0604020202020204" pitchFamily="34" charset="0"/>
            </a:endParaRPr>
          </a:p>
          <a:p>
            <a:endParaRPr lang="ar-EG" sz="4400" b="1" dirty="0"/>
          </a:p>
        </p:txBody>
      </p:sp>
    </p:spTree>
    <p:extLst>
      <p:ext uri="{BB962C8B-B14F-4D97-AF65-F5344CB8AC3E}">
        <p14:creationId xmlns:p14="http://schemas.microsoft.com/office/powerpoint/2010/main" val="667517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611DE-3BD7-4DAF-A900-CA6D5A4A1ADD}"/>
              </a:ext>
            </a:extLst>
          </p:cNvPr>
          <p:cNvSpPr>
            <a:spLocks noGrp="1"/>
          </p:cNvSpPr>
          <p:nvPr>
            <p:ph type="title"/>
          </p:nvPr>
        </p:nvSpPr>
        <p:spPr/>
        <p:txBody>
          <a:bodyPr>
            <a:normAutofit/>
          </a:bodyPr>
          <a:lstStyle/>
          <a:p>
            <a:pPr algn="ctr"/>
            <a:r>
              <a:rPr lang="en-US" sz="6000" b="1" dirty="0">
                <a:solidFill>
                  <a:srgbClr val="FF0000"/>
                </a:solidFill>
              </a:rPr>
              <a:t>WBS</a:t>
            </a:r>
            <a:endParaRPr lang="ar-EG" sz="6000" b="1" dirty="0">
              <a:solidFill>
                <a:srgbClr val="FF0000"/>
              </a:solidFill>
            </a:endParaRPr>
          </a:p>
        </p:txBody>
      </p:sp>
      <p:pic>
        <p:nvPicPr>
          <p:cNvPr id="7" name="Content Placeholder 6">
            <a:extLst>
              <a:ext uri="{FF2B5EF4-FFF2-40B4-BE49-F238E27FC236}">
                <a16:creationId xmlns:a16="http://schemas.microsoft.com/office/drawing/2014/main" id="{64BB5F49-9637-44F4-ADF8-7145C8DE84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1896" y="1788921"/>
            <a:ext cx="6294781" cy="4969792"/>
          </a:xfrm>
        </p:spPr>
      </p:pic>
    </p:spTree>
    <p:extLst>
      <p:ext uri="{BB962C8B-B14F-4D97-AF65-F5344CB8AC3E}">
        <p14:creationId xmlns:p14="http://schemas.microsoft.com/office/powerpoint/2010/main" val="2140932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53D7-0DD1-4C22-B02F-F4FA799067BA}"/>
              </a:ext>
            </a:extLst>
          </p:cNvPr>
          <p:cNvSpPr>
            <a:spLocks noGrp="1"/>
          </p:cNvSpPr>
          <p:nvPr>
            <p:ph type="title"/>
          </p:nvPr>
        </p:nvSpPr>
        <p:spPr/>
        <p:txBody>
          <a:bodyPr>
            <a:normAutofit fontScale="90000"/>
          </a:bodyPr>
          <a:lstStyle/>
          <a:p>
            <a:pPr algn="ctr"/>
            <a:r>
              <a:rPr lang="en-US" sz="3600" b="1" i="0" dirty="0">
                <a:solidFill>
                  <a:srgbClr val="FF0000"/>
                </a:solidFill>
                <a:effectLst/>
                <a:latin typeface="Courier New" panose="02070309020205020404" pitchFamily="49" charset="0"/>
              </a:rPr>
              <a:t>Dictionary of WBS</a:t>
            </a:r>
            <a:r>
              <a:rPr lang="en-US" sz="6700" dirty="0">
                <a:solidFill>
                  <a:srgbClr val="FF0000"/>
                </a:solidFill>
              </a:rPr>
              <a:t> </a:t>
            </a:r>
            <a:br>
              <a:rPr lang="en-US" dirty="0"/>
            </a:br>
            <a:endParaRPr lang="ar-EG" dirty="0"/>
          </a:p>
        </p:txBody>
      </p:sp>
      <p:pic>
        <p:nvPicPr>
          <p:cNvPr id="5" name="Content Placeholder 4">
            <a:extLst>
              <a:ext uri="{FF2B5EF4-FFF2-40B4-BE49-F238E27FC236}">
                <a16:creationId xmlns:a16="http://schemas.microsoft.com/office/drawing/2014/main" id="{49AEA775-AEB7-4E68-8CE3-A44A085587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1" y="1513460"/>
            <a:ext cx="7222434" cy="4860835"/>
          </a:xfrm>
        </p:spPr>
      </p:pic>
    </p:spTree>
    <p:extLst>
      <p:ext uri="{BB962C8B-B14F-4D97-AF65-F5344CB8AC3E}">
        <p14:creationId xmlns:p14="http://schemas.microsoft.com/office/powerpoint/2010/main" val="3307841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5EAD-CD34-454F-8B44-B2C590DDB117}"/>
              </a:ext>
            </a:extLst>
          </p:cNvPr>
          <p:cNvSpPr>
            <a:spLocks noGrp="1"/>
          </p:cNvSpPr>
          <p:nvPr>
            <p:ph type="title"/>
          </p:nvPr>
        </p:nvSpPr>
        <p:spPr/>
        <p:txBody>
          <a:bodyPr>
            <a:normAutofit fontScale="90000"/>
          </a:bodyPr>
          <a:lstStyle/>
          <a:p>
            <a:pPr algn="ctr"/>
            <a:r>
              <a:rPr lang="en-US" sz="3600" b="1" i="0" dirty="0">
                <a:solidFill>
                  <a:srgbClr val="FF0000"/>
                </a:solidFill>
                <a:effectLst/>
                <a:latin typeface="Calibri" panose="020F0502020204030204" pitchFamily="34" charset="0"/>
              </a:rPr>
              <a:t>responsibilities matrix</a:t>
            </a:r>
            <a:r>
              <a:rPr lang="en-US" sz="6700" b="1" dirty="0">
                <a:solidFill>
                  <a:srgbClr val="FF0000"/>
                </a:solidFill>
              </a:rPr>
              <a:t> </a:t>
            </a:r>
            <a:br>
              <a:rPr lang="en-US" dirty="0"/>
            </a:br>
            <a:endParaRPr lang="ar-EG" dirty="0"/>
          </a:p>
        </p:txBody>
      </p:sp>
      <p:pic>
        <p:nvPicPr>
          <p:cNvPr id="5" name="Content Placeholder 4">
            <a:extLst>
              <a:ext uri="{FF2B5EF4-FFF2-40B4-BE49-F238E27FC236}">
                <a16:creationId xmlns:a16="http://schemas.microsoft.com/office/drawing/2014/main" id="{BA564E9C-79B1-4662-9BC7-DB554832E8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1983" y="1825625"/>
            <a:ext cx="6162260" cy="4351338"/>
          </a:xfrm>
        </p:spPr>
      </p:pic>
    </p:spTree>
    <p:extLst>
      <p:ext uri="{BB962C8B-B14F-4D97-AF65-F5344CB8AC3E}">
        <p14:creationId xmlns:p14="http://schemas.microsoft.com/office/powerpoint/2010/main" val="1372632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49CC-4CA9-4D7D-9968-BA7D908CD707}"/>
              </a:ext>
            </a:extLst>
          </p:cNvPr>
          <p:cNvSpPr>
            <a:spLocks noGrp="1"/>
          </p:cNvSpPr>
          <p:nvPr>
            <p:ph type="title"/>
          </p:nvPr>
        </p:nvSpPr>
        <p:spPr/>
        <p:txBody>
          <a:bodyPr>
            <a:normAutofit fontScale="90000"/>
          </a:bodyPr>
          <a:lstStyle/>
          <a:p>
            <a:pPr algn="ctr"/>
            <a:r>
              <a:rPr lang="en-US" b="1" dirty="0">
                <a:solidFill>
                  <a:srgbClr val="FF0000"/>
                </a:solidFill>
              </a:rPr>
              <a:t>Project</a:t>
            </a:r>
            <a:r>
              <a:rPr lang="en-US" dirty="0">
                <a:solidFill>
                  <a:srgbClr val="FF0000"/>
                </a:solidFill>
              </a:rPr>
              <a:t> </a:t>
            </a:r>
            <a:r>
              <a:rPr lang="en-US" sz="3600" b="1" i="0" dirty="0">
                <a:solidFill>
                  <a:srgbClr val="FF0000"/>
                </a:solidFill>
                <a:effectLst/>
                <a:latin typeface="Times New Roman" panose="02020603050405020304" pitchFamily="18" charset="0"/>
              </a:rPr>
              <a:t>Network</a:t>
            </a:r>
            <a:br>
              <a:rPr lang="en-US" sz="1800" b="0" i="0" dirty="0">
                <a:solidFill>
                  <a:srgbClr val="FF0000"/>
                </a:solidFill>
                <a:effectLst/>
                <a:latin typeface="Times New Roman" panose="02020603050405020304" pitchFamily="18" charset="0"/>
              </a:rPr>
            </a:br>
            <a:br>
              <a:rPr lang="en-US" dirty="0">
                <a:solidFill>
                  <a:srgbClr val="FF0000"/>
                </a:solidFill>
              </a:rPr>
            </a:br>
            <a:endParaRPr lang="ar-EG" dirty="0">
              <a:solidFill>
                <a:srgbClr val="FF0000"/>
              </a:solidFill>
            </a:endParaRPr>
          </a:p>
        </p:txBody>
      </p:sp>
      <p:pic>
        <p:nvPicPr>
          <p:cNvPr id="5" name="Content Placeholder 4">
            <a:extLst>
              <a:ext uri="{FF2B5EF4-FFF2-40B4-BE49-F238E27FC236}">
                <a16:creationId xmlns:a16="http://schemas.microsoft.com/office/drawing/2014/main" id="{5F4BF874-685C-49C5-B1AD-AFA83EBEAA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6852" y="1378226"/>
            <a:ext cx="8083825" cy="4798737"/>
          </a:xfrm>
        </p:spPr>
      </p:pic>
    </p:spTree>
    <p:extLst>
      <p:ext uri="{BB962C8B-B14F-4D97-AF65-F5344CB8AC3E}">
        <p14:creationId xmlns:p14="http://schemas.microsoft.com/office/powerpoint/2010/main" val="1620798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36081-98F4-47A3-9EDE-BE5546943A4E}"/>
              </a:ext>
            </a:extLst>
          </p:cNvPr>
          <p:cNvSpPr>
            <a:spLocks noGrp="1"/>
          </p:cNvSpPr>
          <p:nvPr>
            <p:ph type="title"/>
          </p:nvPr>
        </p:nvSpPr>
        <p:spPr/>
        <p:txBody>
          <a:bodyPr>
            <a:normAutofit fontScale="90000"/>
          </a:bodyPr>
          <a:lstStyle/>
          <a:p>
            <a:pPr algn="ctr"/>
            <a:r>
              <a:rPr lang="en-US" b="1" i="0" dirty="0">
                <a:solidFill>
                  <a:srgbClr val="FF0000"/>
                </a:solidFill>
                <a:effectLst/>
                <a:latin typeface="Times New Roman" panose="02020603050405020304" pitchFamily="18" charset="0"/>
              </a:rPr>
              <a:t>Resources</a:t>
            </a:r>
            <a:r>
              <a:rPr lang="en-US" sz="4800" b="1" dirty="0">
                <a:solidFill>
                  <a:srgbClr val="FF0000"/>
                </a:solidFill>
              </a:rPr>
              <a:t> </a:t>
            </a:r>
            <a:br>
              <a:rPr lang="en-US" sz="4800" b="1" dirty="0">
                <a:solidFill>
                  <a:srgbClr val="FF0000"/>
                </a:solidFill>
              </a:rPr>
            </a:br>
            <a:endParaRPr lang="ar-EG" sz="4800" b="1" dirty="0">
              <a:solidFill>
                <a:srgbClr val="FF0000"/>
              </a:solidFill>
            </a:endParaRPr>
          </a:p>
        </p:txBody>
      </p:sp>
      <p:pic>
        <p:nvPicPr>
          <p:cNvPr id="5" name="Content Placeholder 4">
            <a:extLst>
              <a:ext uri="{FF2B5EF4-FFF2-40B4-BE49-F238E27FC236}">
                <a16:creationId xmlns:a16="http://schemas.microsoft.com/office/drawing/2014/main" id="{0B298D0D-85E4-4D72-AA8F-18FEF9119E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8470" y="1825625"/>
            <a:ext cx="8468139" cy="4351338"/>
          </a:xfrm>
        </p:spPr>
      </p:pic>
    </p:spTree>
    <p:extLst>
      <p:ext uri="{BB962C8B-B14F-4D97-AF65-F5344CB8AC3E}">
        <p14:creationId xmlns:p14="http://schemas.microsoft.com/office/powerpoint/2010/main" val="3955285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241F4-08D3-4E79-9477-A3355AE279A5}"/>
              </a:ext>
            </a:extLst>
          </p:cNvPr>
          <p:cNvSpPr>
            <a:spLocks noGrp="1"/>
          </p:cNvSpPr>
          <p:nvPr>
            <p:ph type="title"/>
          </p:nvPr>
        </p:nvSpPr>
        <p:spPr/>
        <p:txBody>
          <a:bodyPr>
            <a:normAutofit fontScale="90000"/>
          </a:bodyPr>
          <a:lstStyle/>
          <a:p>
            <a:pPr algn="ctr"/>
            <a:r>
              <a:rPr lang="en-US" sz="4000" b="1" i="0" dirty="0">
                <a:solidFill>
                  <a:srgbClr val="FF0000"/>
                </a:solidFill>
                <a:effectLst/>
                <a:latin typeface="Times New Roman" panose="02020603050405020304" pitchFamily="18" charset="0"/>
              </a:rPr>
              <a:t>Time baseline</a:t>
            </a:r>
            <a:r>
              <a:rPr lang="en-US" sz="7300" b="1" dirty="0">
                <a:solidFill>
                  <a:srgbClr val="FF0000"/>
                </a:solidFill>
              </a:rPr>
              <a:t> </a:t>
            </a:r>
            <a:br>
              <a:rPr lang="en-US" dirty="0"/>
            </a:br>
            <a:endParaRPr lang="ar-EG" dirty="0"/>
          </a:p>
        </p:txBody>
      </p:sp>
      <p:pic>
        <p:nvPicPr>
          <p:cNvPr id="5" name="Content Placeholder 4">
            <a:extLst>
              <a:ext uri="{FF2B5EF4-FFF2-40B4-BE49-F238E27FC236}">
                <a16:creationId xmlns:a16="http://schemas.microsoft.com/office/drawing/2014/main" id="{CE14F00A-8E7F-46B1-8FAA-5932893F9F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861" y="2007221"/>
            <a:ext cx="9515061" cy="4340569"/>
          </a:xfrm>
        </p:spPr>
      </p:pic>
    </p:spTree>
    <p:extLst>
      <p:ext uri="{BB962C8B-B14F-4D97-AF65-F5344CB8AC3E}">
        <p14:creationId xmlns:p14="http://schemas.microsoft.com/office/powerpoint/2010/main" val="3273892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4FA69-39B9-4399-851B-1657E49DBF65}"/>
              </a:ext>
            </a:extLst>
          </p:cNvPr>
          <p:cNvSpPr>
            <a:spLocks noGrp="1"/>
          </p:cNvSpPr>
          <p:nvPr>
            <p:ph type="ctrTitle"/>
          </p:nvPr>
        </p:nvSpPr>
        <p:spPr/>
        <p:txBody>
          <a:bodyPr/>
          <a:lstStyle/>
          <a:p>
            <a:r>
              <a:rPr lang="en-US" sz="3200" b="1" i="0" dirty="0">
                <a:solidFill>
                  <a:srgbClr val="FF0000"/>
                </a:solidFill>
                <a:effectLst/>
                <a:latin typeface="Times New Roman" panose="02020603050405020304" pitchFamily="18" charset="0"/>
              </a:rPr>
              <a:t>Risk </a:t>
            </a:r>
            <a:r>
              <a:rPr lang="en-US" sz="3200" b="1" i="0" dirty="0" err="1">
                <a:solidFill>
                  <a:srgbClr val="FF0000"/>
                </a:solidFill>
                <a:effectLst/>
                <a:latin typeface="Times New Roman" panose="02020603050405020304" pitchFamily="18" charset="0"/>
              </a:rPr>
              <a:t>Manageent</a:t>
            </a:r>
            <a:r>
              <a:rPr lang="en-US" sz="8800" b="1" dirty="0">
                <a:solidFill>
                  <a:srgbClr val="FF0000"/>
                </a:solidFill>
              </a:rPr>
              <a:t> </a:t>
            </a:r>
            <a:br>
              <a:rPr lang="en-US" dirty="0"/>
            </a:br>
            <a:endParaRPr lang="ar-EG" dirty="0"/>
          </a:p>
        </p:txBody>
      </p:sp>
      <p:sp>
        <p:nvSpPr>
          <p:cNvPr id="3" name="Subtitle 2">
            <a:extLst>
              <a:ext uri="{FF2B5EF4-FFF2-40B4-BE49-F238E27FC236}">
                <a16:creationId xmlns:a16="http://schemas.microsoft.com/office/drawing/2014/main" id="{FF92714E-D325-454D-9BAB-680C2560A23E}"/>
              </a:ext>
            </a:extLst>
          </p:cNvPr>
          <p:cNvSpPr>
            <a:spLocks noGrp="1"/>
          </p:cNvSpPr>
          <p:nvPr>
            <p:ph type="subTitle" idx="1"/>
          </p:nvPr>
        </p:nvSpPr>
        <p:spPr>
          <a:xfrm>
            <a:off x="675861" y="2778124"/>
            <a:ext cx="9992139" cy="3927475"/>
          </a:xfrm>
        </p:spPr>
        <p:txBody>
          <a:bodyPr>
            <a:normAutofit fontScale="92500" lnSpcReduction="10000"/>
          </a:bodyPr>
          <a:lstStyle/>
          <a:p>
            <a:pPr marL="514350" indent="-514350" algn="l">
              <a:buFont typeface="Arial" panose="020B0604020202020204" pitchFamily="34" charset="0"/>
              <a:buChar char="•"/>
            </a:pPr>
            <a:r>
              <a:rPr lang="en-US" sz="2800" b="1" i="0" dirty="0">
                <a:solidFill>
                  <a:srgbClr val="943634"/>
                </a:solidFill>
                <a:effectLst/>
                <a:latin typeface="Calibri" panose="020F0502020204030204" pitchFamily="34" charset="0"/>
              </a:rPr>
              <a:t>There are some risks facing the project, including : -</a:t>
            </a:r>
            <a:br>
              <a:rPr lang="en-US" sz="2800" b="1" i="0" dirty="0">
                <a:solidFill>
                  <a:srgbClr val="943634"/>
                </a:solidFill>
                <a:effectLst/>
                <a:latin typeface="Calibri" panose="020F0502020204030204" pitchFamily="34" charset="0"/>
              </a:rPr>
            </a:br>
            <a:r>
              <a:rPr lang="en-US" sz="2800" b="1" i="0" dirty="0">
                <a:solidFill>
                  <a:srgbClr val="000000"/>
                </a:solidFill>
                <a:effectLst/>
                <a:latin typeface="Calibri" panose="020F0502020204030204" pitchFamily="34" charset="0"/>
              </a:rPr>
              <a:t>1_ increase in the cost : -</a:t>
            </a:r>
            <a:br>
              <a:rPr lang="en-US" sz="2800" b="1" i="0" dirty="0">
                <a:solidFill>
                  <a:srgbClr val="000000"/>
                </a:solidFill>
                <a:effectLst/>
                <a:latin typeface="Calibri" panose="020F0502020204030204" pitchFamily="34" charset="0"/>
              </a:rPr>
            </a:br>
            <a:r>
              <a:rPr lang="en-US" sz="2800" b="1" i="0" dirty="0">
                <a:solidFill>
                  <a:srgbClr val="215868"/>
                </a:solidFill>
                <a:effectLst/>
                <a:latin typeface="Symbol" panose="05050102010706020507" pitchFamily="18" charset="2"/>
              </a:rPr>
              <a:t> </a:t>
            </a:r>
            <a:r>
              <a:rPr lang="en-US" sz="2800" b="1" i="0" dirty="0">
                <a:solidFill>
                  <a:srgbClr val="215868"/>
                </a:solidFill>
                <a:effectLst/>
                <a:latin typeface="Calibri" panose="020F0502020204030204" pitchFamily="34" charset="0"/>
              </a:rPr>
              <a:t>we can deal this risk through, Reducing project requirements.</a:t>
            </a:r>
            <a:br>
              <a:rPr lang="en-US" sz="2800" b="1" i="0" dirty="0">
                <a:solidFill>
                  <a:srgbClr val="215868"/>
                </a:solidFill>
                <a:effectLst/>
                <a:latin typeface="Calibri" panose="020F0502020204030204" pitchFamily="34" charset="0"/>
              </a:rPr>
            </a:br>
            <a:r>
              <a:rPr lang="en-US" sz="2800" b="1" i="0" dirty="0">
                <a:solidFill>
                  <a:srgbClr val="000000"/>
                </a:solidFill>
                <a:effectLst/>
                <a:latin typeface="Calibri" panose="020F0502020204030204" pitchFamily="34" charset="0"/>
              </a:rPr>
              <a:t>2_ people not interact with modern technology.</a:t>
            </a:r>
            <a:br>
              <a:rPr lang="en-US" sz="2800" b="1" i="0" dirty="0">
                <a:solidFill>
                  <a:srgbClr val="000000"/>
                </a:solidFill>
                <a:effectLst/>
                <a:latin typeface="Calibri" panose="020F0502020204030204" pitchFamily="34" charset="0"/>
              </a:rPr>
            </a:br>
            <a:r>
              <a:rPr lang="en-US" sz="2800" b="1" i="0" dirty="0">
                <a:solidFill>
                  <a:srgbClr val="215868"/>
                </a:solidFill>
                <a:effectLst/>
                <a:latin typeface="Symbol" panose="05050102010706020507" pitchFamily="18" charset="2"/>
              </a:rPr>
              <a:t> </a:t>
            </a:r>
            <a:r>
              <a:rPr lang="en-US" sz="2800" b="1" i="0" dirty="0">
                <a:solidFill>
                  <a:srgbClr val="215868"/>
                </a:solidFill>
                <a:effectLst/>
                <a:latin typeface="Calibri" panose="020F0502020204030204" pitchFamily="34" charset="0"/>
              </a:rPr>
              <a:t>_we can deal this risk through, Good marketing by spreading the</a:t>
            </a:r>
            <a:br>
              <a:rPr lang="en-US" sz="2800" b="1" i="0" dirty="0">
                <a:solidFill>
                  <a:srgbClr val="215868"/>
                </a:solidFill>
                <a:effectLst/>
                <a:latin typeface="Calibri" panose="020F0502020204030204" pitchFamily="34" charset="0"/>
              </a:rPr>
            </a:br>
            <a:r>
              <a:rPr lang="en-US" sz="2800" b="1" i="0" dirty="0">
                <a:solidFill>
                  <a:srgbClr val="215868"/>
                </a:solidFill>
                <a:effectLst/>
                <a:latin typeface="Calibri" panose="020F0502020204030204" pitchFamily="34" charset="0"/>
              </a:rPr>
              <a:t>benefit of the project and its importance.</a:t>
            </a:r>
            <a:br>
              <a:rPr lang="en-US" sz="2800" b="1" i="0" dirty="0">
                <a:solidFill>
                  <a:srgbClr val="215868"/>
                </a:solidFill>
                <a:effectLst/>
                <a:latin typeface="Calibri" panose="020F0502020204030204" pitchFamily="34" charset="0"/>
              </a:rPr>
            </a:br>
            <a:r>
              <a:rPr lang="en-US" sz="2800" b="1" i="0" dirty="0">
                <a:solidFill>
                  <a:srgbClr val="000000"/>
                </a:solidFill>
                <a:effectLst/>
                <a:latin typeface="Calibri" panose="020F0502020204030204" pitchFamily="34" charset="0"/>
              </a:rPr>
              <a:t>3_the possibility of hacking the device.</a:t>
            </a:r>
            <a:br>
              <a:rPr lang="en-US" sz="2800" b="1" i="0" dirty="0">
                <a:solidFill>
                  <a:srgbClr val="000000"/>
                </a:solidFill>
                <a:effectLst/>
                <a:latin typeface="Calibri" panose="020F0502020204030204" pitchFamily="34" charset="0"/>
              </a:rPr>
            </a:br>
            <a:r>
              <a:rPr lang="en-US" sz="2800" b="1" i="0" dirty="0">
                <a:solidFill>
                  <a:srgbClr val="215868"/>
                </a:solidFill>
                <a:effectLst/>
                <a:latin typeface="Calibri" panose="020F0502020204030204" pitchFamily="34" charset="0"/>
              </a:rPr>
              <a:t>_we can deal this risk through, increase the protection of the device and</a:t>
            </a:r>
            <a:br>
              <a:rPr lang="en-US" sz="2800" b="1" i="0" dirty="0">
                <a:solidFill>
                  <a:srgbClr val="215868"/>
                </a:solidFill>
                <a:effectLst/>
                <a:latin typeface="Calibri" panose="020F0502020204030204" pitchFamily="34" charset="0"/>
              </a:rPr>
            </a:br>
            <a:r>
              <a:rPr lang="en-US" sz="2800" b="1" i="0" dirty="0">
                <a:solidFill>
                  <a:srgbClr val="215868"/>
                </a:solidFill>
                <a:effectLst/>
                <a:latin typeface="Calibri" panose="020F0502020204030204" pitchFamily="34" charset="0"/>
              </a:rPr>
              <a:t>know is trying to hack the device.</a:t>
            </a:r>
            <a:r>
              <a:rPr lang="en-US" sz="3600" b="1" dirty="0"/>
              <a:t> </a:t>
            </a:r>
            <a:br>
              <a:rPr lang="en-US" sz="3600" b="1" dirty="0"/>
            </a:br>
            <a:endParaRPr lang="ar-EG" sz="3600" b="1" dirty="0"/>
          </a:p>
        </p:txBody>
      </p:sp>
    </p:spTree>
    <p:extLst>
      <p:ext uri="{BB962C8B-B14F-4D97-AF65-F5344CB8AC3E}">
        <p14:creationId xmlns:p14="http://schemas.microsoft.com/office/powerpoint/2010/main" val="3463601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331</Words>
  <Application>Microsoft Office PowerPoint</Application>
  <PresentationFormat>Widescreen</PresentationFormat>
  <Paragraphs>21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Courier New</vt:lpstr>
      <vt:lpstr>Symbol</vt:lpstr>
      <vt:lpstr>Times New Roman</vt:lpstr>
      <vt:lpstr>Office Theme</vt:lpstr>
      <vt:lpstr>Smart card </vt:lpstr>
      <vt:lpstr>Presentation </vt:lpstr>
      <vt:lpstr>   Project charter </vt:lpstr>
      <vt:lpstr>Project scoop </vt:lpstr>
      <vt:lpstr>WBS</vt:lpstr>
      <vt:lpstr>Dictionary of WBS  </vt:lpstr>
      <vt:lpstr>responsibilities matrix  </vt:lpstr>
      <vt:lpstr>Project Network  </vt:lpstr>
      <vt:lpstr>Resources  </vt:lpstr>
      <vt:lpstr>Time baseline  </vt:lpstr>
      <vt:lpstr>Risk Manageent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Subhi mohamed</dc:creator>
  <cp:lastModifiedBy>Subhi mohamed</cp:lastModifiedBy>
  <cp:revision>6</cp:revision>
  <dcterms:created xsi:type="dcterms:W3CDTF">2022-01-02T18:25:25Z</dcterms:created>
  <dcterms:modified xsi:type="dcterms:W3CDTF">2022-01-02T19:55:31Z</dcterms:modified>
</cp:coreProperties>
</file>